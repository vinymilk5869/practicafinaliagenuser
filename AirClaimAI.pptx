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DM Serif Display" charset="1" panose="00000000000000000000"/>
      <p:regular r:id="rId15"/>
    </p:embeddedFont>
    <p:embeddedFont>
      <p:font typeface="Lato" charset="1" panose="020F0502020204030203"/>
      <p:regular r:id="rId16"/>
    </p:embeddedFont>
    <p:embeddedFont>
      <p:font typeface="Lato Bold" charset="1" panose="020F0502020204030203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2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200150"/>
            <a:ext cx="14446994" cy="431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98"/>
              </a:lnSpc>
            </a:pPr>
            <a:r>
              <a:rPr lang="en-US" sz="8498">
                <a:solidFill>
                  <a:srgbClr val="F1ECEA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¿Alguna vez has viajado y no han salido las cosas como esperabas?</a:t>
            </a:r>
          </a:p>
          <a:p>
            <a:pPr algn="l">
              <a:lnSpc>
                <a:spcPts val="8498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477243" y="295192"/>
            <a:ext cx="1812525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1E2223"/>
                </a:solidFill>
                <a:latin typeface="Lato"/>
                <a:ea typeface="Lato"/>
                <a:cs typeface="Lato"/>
                <a:sym typeface="Lato"/>
              </a:rPr>
              <a:t>AirClaim AI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682211" y="295159"/>
            <a:ext cx="1577089" cy="266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1E2223"/>
                </a:solidFill>
                <a:latin typeface="Lato"/>
                <a:ea typeface="Lato"/>
                <a:cs typeface="Lato"/>
                <a:sym typeface="Lato"/>
              </a:rPr>
              <a:t>2026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2764655" y="-1005839"/>
            <a:ext cx="15523345" cy="11943008"/>
          </a:xfrm>
          <a:custGeom>
            <a:avLst/>
            <a:gdLst/>
            <a:ahLst/>
            <a:cxnLst/>
            <a:rect r="r" b="b" t="t" l="l"/>
            <a:pathLst>
              <a:path h="11943008" w="15523345">
                <a:moveTo>
                  <a:pt x="0" y="0"/>
                </a:moveTo>
                <a:lnTo>
                  <a:pt x="15523345" y="0"/>
                </a:lnTo>
                <a:lnTo>
                  <a:pt x="15523345" y="11943008"/>
                </a:lnTo>
                <a:lnTo>
                  <a:pt x="0" y="119430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15475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2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77243" y="1955985"/>
            <a:ext cx="14607512" cy="5458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92"/>
              </a:lnSpc>
            </a:pPr>
            <a:r>
              <a:rPr lang="en-US" sz="26437">
                <a:solidFill>
                  <a:srgbClr val="BA917B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AirClaim </a:t>
            </a:r>
            <a:r>
              <a:rPr lang="en-US" sz="26437">
                <a:solidFill>
                  <a:srgbClr val="FFFFF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AI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2289768" y="3367234"/>
            <a:ext cx="13765614" cy="5012978"/>
          </a:xfrm>
          <a:custGeom>
            <a:avLst/>
            <a:gdLst/>
            <a:ahLst/>
            <a:cxnLst/>
            <a:rect r="r" b="b" t="t" l="l"/>
            <a:pathLst>
              <a:path h="5012978" w="13765614">
                <a:moveTo>
                  <a:pt x="0" y="0"/>
                </a:moveTo>
                <a:lnTo>
                  <a:pt x="13765614" y="0"/>
                </a:lnTo>
                <a:lnTo>
                  <a:pt x="13765614" y="5012978"/>
                </a:lnTo>
                <a:lnTo>
                  <a:pt x="0" y="50129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77243" y="295192"/>
            <a:ext cx="1812525" cy="266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1E2223"/>
                </a:solidFill>
                <a:latin typeface="Lato"/>
                <a:ea typeface="Lato"/>
                <a:cs typeface="Lato"/>
                <a:sym typeface="Lato"/>
              </a:rPr>
              <a:t>Borcelle Aviation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418200" y="295192"/>
            <a:ext cx="2392556" cy="266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1E2223"/>
                </a:solidFill>
                <a:latin typeface="Lato"/>
                <a:ea typeface="Lato"/>
                <a:cs typeface="Lato"/>
                <a:sym typeface="Lato"/>
              </a:rPr>
              <a:t>Template Presentation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497275" y="295192"/>
            <a:ext cx="1577089" cy="266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1E2223"/>
                </a:solidFill>
                <a:latin typeface="Lato"/>
                <a:ea typeface="Lato"/>
                <a:cs typeface="Lato"/>
                <a:sym typeface="Lato"/>
              </a:rPr>
              <a:t>2026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920186" y="295192"/>
            <a:ext cx="1338253" cy="266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1E2223"/>
                </a:solidFill>
                <a:latin typeface="Lato"/>
                <a:ea typeface="Lato"/>
                <a:cs typeface="Lato"/>
                <a:sym typeface="Lato"/>
              </a:rPr>
              <a:t>Plane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860704" y="2381397"/>
            <a:ext cx="2809601" cy="1962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F1ECEA"/>
                </a:solidFill>
                <a:latin typeface="Lato Bold"/>
                <a:ea typeface="Lato Bold"/>
                <a:cs typeface="Lato Bold"/>
                <a:sym typeface="Lato Bold"/>
              </a:rPr>
              <a:t>La plataforma de reclamaciones aéreas </a:t>
            </a:r>
            <a:r>
              <a:rPr lang="en-US" sz="2600" b="true">
                <a:solidFill>
                  <a:srgbClr val="BA917B"/>
                </a:solidFill>
                <a:latin typeface="Lato Bold"/>
                <a:ea typeface="Lato Bold"/>
                <a:cs typeface="Lato Bold"/>
                <a:sym typeface="Lato Bold"/>
              </a:rPr>
              <a:t>automatizadas y en tiempo real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C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02680" y="1932867"/>
            <a:ext cx="6372314" cy="7878572"/>
            <a:chOff x="0" y="0"/>
            <a:chExt cx="987238" cy="12205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87238" cy="1220597"/>
            </a:xfrm>
            <a:custGeom>
              <a:avLst/>
              <a:gdLst/>
              <a:ahLst/>
              <a:cxnLst/>
              <a:rect r="r" b="b" t="t" l="l"/>
              <a:pathLst>
                <a:path h="1220597" w="987238">
                  <a:moveTo>
                    <a:pt x="0" y="0"/>
                  </a:moveTo>
                  <a:lnTo>
                    <a:pt x="987238" y="0"/>
                  </a:lnTo>
                  <a:lnTo>
                    <a:pt x="987238" y="1220597"/>
                  </a:lnTo>
                  <a:lnTo>
                    <a:pt x="0" y="1220597"/>
                  </a:lnTo>
                  <a:close/>
                </a:path>
              </a:pathLst>
            </a:custGeom>
            <a:blipFill>
              <a:blip r:embed="rId2"/>
              <a:stretch>
                <a:fillRect l="-42728" t="0" r="-42728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713916" y="1932867"/>
            <a:ext cx="3096841" cy="7878572"/>
            <a:chOff x="0" y="0"/>
            <a:chExt cx="479782" cy="122059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79782" cy="1220597"/>
            </a:xfrm>
            <a:custGeom>
              <a:avLst/>
              <a:gdLst/>
              <a:ahLst/>
              <a:cxnLst/>
              <a:rect r="r" b="b" t="t" l="l"/>
              <a:pathLst>
                <a:path h="1220597" w="479782">
                  <a:moveTo>
                    <a:pt x="0" y="0"/>
                  </a:moveTo>
                  <a:lnTo>
                    <a:pt x="479782" y="0"/>
                  </a:lnTo>
                  <a:lnTo>
                    <a:pt x="479782" y="1220597"/>
                  </a:lnTo>
                  <a:lnTo>
                    <a:pt x="0" y="1220597"/>
                  </a:lnTo>
                  <a:close/>
                </a:path>
              </a:pathLst>
            </a:custGeom>
            <a:blipFill>
              <a:blip r:embed="rId3"/>
              <a:stretch>
                <a:fillRect l="-140805" t="0" r="-140805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28700" y="2037642"/>
            <a:ext cx="4843687" cy="1425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99"/>
              </a:lnSpc>
            </a:pPr>
            <a:r>
              <a:rPr lang="en-US" sz="5499">
                <a:solidFill>
                  <a:srgbClr val="BA917B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El problema, EXISTE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829853"/>
            <a:ext cx="3885024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0"/>
              </a:lnSpc>
            </a:pPr>
            <a:r>
              <a:rPr lang="en-US" sz="3100" b="true">
                <a:solidFill>
                  <a:srgbClr val="7C736A"/>
                </a:solidFill>
                <a:latin typeface="Lato Bold"/>
                <a:ea typeface="Lato Bold"/>
                <a:cs typeface="Lato Bold"/>
                <a:sym typeface="Lato Bold"/>
              </a:rPr>
              <a:t>Procesos manuales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4829243"/>
            <a:ext cx="5290451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0"/>
              </a:lnSpc>
            </a:pPr>
            <a:r>
              <a:rPr lang="en-US" sz="3100" b="true">
                <a:solidFill>
                  <a:srgbClr val="7C736A"/>
                </a:solidFill>
                <a:latin typeface="Lato Bold"/>
                <a:ea typeface="Lato Bold"/>
                <a:cs typeface="Lato Bold"/>
                <a:sym typeface="Lato Bold"/>
              </a:rPr>
              <a:t>Altos costes operativos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5829368"/>
            <a:ext cx="6397757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0"/>
              </a:lnSpc>
            </a:pPr>
            <a:r>
              <a:rPr lang="en-US" sz="3100" b="true">
                <a:solidFill>
                  <a:srgbClr val="7C736A"/>
                </a:solidFill>
                <a:latin typeface="Lato Bold"/>
                <a:ea typeface="Lato Bold"/>
                <a:cs typeface="Lato Bold"/>
                <a:sym typeface="Lato Bold"/>
              </a:rPr>
              <a:t>Volumen documental masivo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6829493"/>
            <a:ext cx="6397757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0"/>
              </a:lnSpc>
            </a:pPr>
            <a:r>
              <a:rPr lang="en-US" sz="3100" b="true">
                <a:solidFill>
                  <a:srgbClr val="7C736A"/>
                </a:solidFill>
                <a:latin typeface="Lato Bold"/>
                <a:ea typeface="Lato Bold"/>
                <a:cs typeface="Lato Bold"/>
                <a:sym typeface="Lato Bold"/>
              </a:rPr>
              <a:t>Tiempos de respuesta largos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4308514"/>
            <a:ext cx="3262286" cy="480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81"/>
              </a:lnSpc>
              <a:spcBef>
                <a:spcPct val="0"/>
              </a:spcBef>
            </a:pPr>
            <a:r>
              <a:rPr lang="en-US" sz="2843">
                <a:solidFill>
                  <a:srgbClr val="BA917B"/>
                </a:solidFill>
                <a:latin typeface="Lato"/>
                <a:ea typeface="Lato"/>
                <a:cs typeface="Lato"/>
                <a:sym typeface="Lato"/>
              </a:rPr>
              <a:t>Revisión humana.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5305493"/>
            <a:ext cx="7697432" cy="480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81"/>
              </a:lnSpc>
              <a:spcBef>
                <a:spcPct val="0"/>
              </a:spcBef>
            </a:pPr>
            <a:r>
              <a:rPr lang="en-US" sz="2843">
                <a:solidFill>
                  <a:srgbClr val="BA917B"/>
                </a:solidFill>
                <a:latin typeface="Lato"/>
                <a:ea typeface="Lato"/>
                <a:cs typeface="Lato"/>
                <a:sym typeface="Lato"/>
              </a:rPr>
              <a:t>Equipos dedicados a tareas repetitivas.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6315143"/>
            <a:ext cx="6788843" cy="480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81"/>
              </a:lnSpc>
              <a:spcBef>
                <a:spcPct val="0"/>
              </a:spcBef>
            </a:pPr>
            <a:r>
              <a:rPr lang="en-US" sz="2843">
                <a:solidFill>
                  <a:srgbClr val="BA917B"/>
                </a:solidFill>
                <a:latin typeface="Lato"/>
                <a:ea typeface="Lato"/>
                <a:cs typeface="Lato"/>
                <a:sym typeface="Lato"/>
              </a:rPr>
              <a:t>Documentos sin estructura digital.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7315268"/>
            <a:ext cx="5988053" cy="985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81"/>
              </a:lnSpc>
              <a:spcBef>
                <a:spcPct val="0"/>
              </a:spcBef>
            </a:pPr>
            <a:r>
              <a:rPr lang="en-US" sz="2843">
                <a:solidFill>
                  <a:srgbClr val="BA917B"/>
                </a:solidFill>
                <a:latin typeface="Lato"/>
                <a:ea typeface="Lato"/>
                <a:cs typeface="Lato"/>
                <a:sym typeface="Lato"/>
              </a:rPr>
              <a:t>Semanas o meses en reclamaciones que podrian automatizarse.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77243" y="295192"/>
            <a:ext cx="1812525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1E2223"/>
                </a:solidFill>
                <a:latin typeface="Lato"/>
                <a:ea typeface="Lato"/>
                <a:cs typeface="Lato"/>
                <a:sym typeface="Lato"/>
              </a:rPr>
              <a:t>AirClaim AI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682211" y="295159"/>
            <a:ext cx="1577089" cy="266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1E2223"/>
                </a:solidFill>
                <a:latin typeface="Lato"/>
                <a:ea typeface="Lato"/>
                <a:cs typeface="Lato"/>
                <a:sym typeface="Lato"/>
              </a:rPr>
              <a:t>2026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C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4388513"/>
            <a:ext cx="4307300" cy="2313418"/>
            <a:chOff x="0" y="0"/>
            <a:chExt cx="1134433" cy="6092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34433" cy="609295"/>
            </a:xfrm>
            <a:custGeom>
              <a:avLst/>
              <a:gdLst/>
              <a:ahLst/>
              <a:cxnLst/>
              <a:rect r="r" b="b" t="t" l="l"/>
              <a:pathLst>
                <a:path h="609295" w="1134433">
                  <a:moveTo>
                    <a:pt x="0" y="0"/>
                  </a:moveTo>
                  <a:lnTo>
                    <a:pt x="1134433" y="0"/>
                  </a:lnTo>
                  <a:lnTo>
                    <a:pt x="1134433" y="609295"/>
                  </a:lnTo>
                  <a:lnTo>
                    <a:pt x="0" y="609295"/>
                  </a:lnTo>
                  <a:close/>
                </a:path>
              </a:pathLst>
            </a:custGeom>
            <a:solidFill>
              <a:srgbClr val="BA917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134433" cy="6473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829274" y="1932867"/>
            <a:ext cx="4430026" cy="7325433"/>
            <a:chOff x="0" y="0"/>
            <a:chExt cx="686327" cy="113490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86327" cy="1134901"/>
            </a:xfrm>
            <a:custGeom>
              <a:avLst/>
              <a:gdLst/>
              <a:ahLst/>
              <a:cxnLst/>
              <a:rect r="r" b="b" t="t" l="l"/>
              <a:pathLst>
                <a:path h="1134901" w="686327">
                  <a:moveTo>
                    <a:pt x="0" y="0"/>
                  </a:moveTo>
                  <a:lnTo>
                    <a:pt x="686327" y="0"/>
                  </a:lnTo>
                  <a:lnTo>
                    <a:pt x="686327" y="1134901"/>
                  </a:lnTo>
                  <a:lnTo>
                    <a:pt x="0" y="1134901"/>
                  </a:lnTo>
                  <a:close/>
                </a:path>
              </a:pathLst>
            </a:custGeom>
            <a:blipFill>
              <a:blip r:embed="rId2"/>
              <a:stretch>
                <a:fillRect l="-74019" t="0" r="-74019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028700" y="1532817"/>
            <a:ext cx="6932843" cy="1425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99"/>
              </a:lnSpc>
            </a:pPr>
            <a:r>
              <a:rPr lang="en-US" sz="5499">
                <a:solidFill>
                  <a:srgbClr val="BA917B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¿Quién sufre este problema?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84756" y="4702093"/>
            <a:ext cx="3825989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0"/>
              </a:lnSpc>
            </a:pPr>
            <a:r>
              <a:rPr lang="en-US" b="true" sz="3100">
                <a:solidFill>
                  <a:srgbClr val="F1ECEA"/>
                </a:solidFill>
                <a:latin typeface="Lato Bold"/>
                <a:ea typeface="Lato Bold"/>
                <a:cs typeface="Lato Bold"/>
                <a:sym typeface="Lato Bold"/>
              </a:rPr>
              <a:t>Claim Companies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28700" y="6944882"/>
            <a:ext cx="4307300" cy="2313418"/>
            <a:chOff x="0" y="0"/>
            <a:chExt cx="1134433" cy="60929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34433" cy="609295"/>
            </a:xfrm>
            <a:custGeom>
              <a:avLst/>
              <a:gdLst/>
              <a:ahLst/>
              <a:cxnLst/>
              <a:rect r="r" b="b" t="t" l="l"/>
              <a:pathLst>
                <a:path h="609295" w="1134433">
                  <a:moveTo>
                    <a:pt x="0" y="0"/>
                  </a:moveTo>
                  <a:lnTo>
                    <a:pt x="1134433" y="0"/>
                  </a:lnTo>
                  <a:lnTo>
                    <a:pt x="1134433" y="609295"/>
                  </a:lnTo>
                  <a:lnTo>
                    <a:pt x="0" y="609295"/>
                  </a:lnTo>
                  <a:close/>
                </a:path>
              </a:pathLst>
            </a:custGeom>
            <a:solidFill>
              <a:srgbClr val="BA917B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134433" cy="6473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284756" y="7258462"/>
            <a:ext cx="3825989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0"/>
              </a:lnSpc>
            </a:pPr>
            <a:r>
              <a:rPr lang="en-US" sz="3100" b="true">
                <a:solidFill>
                  <a:srgbClr val="F1ECEA"/>
                </a:solidFill>
                <a:latin typeface="Lato Bold"/>
                <a:ea typeface="Lato Bold"/>
                <a:cs typeface="Lato Bold"/>
                <a:sym typeface="Lato Bold"/>
              </a:rPr>
              <a:t>Aerolíneas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5924242" y="4388513"/>
            <a:ext cx="4307300" cy="2313418"/>
            <a:chOff x="0" y="0"/>
            <a:chExt cx="1134433" cy="60929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34433" cy="609295"/>
            </a:xfrm>
            <a:custGeom>
              <a:avLst/>
              <a:gdLst/>
              <a:ahLst/>
              <a:cxnLst/>
              <a:rect r="r" b="b" t="t" l="l"/>
              <a:pathLst>
                <a:path h="609295" w="1134433">
                  <a:moveTo>
                    <a:pt x="0" y="0"/>
                  </a:moveTo>
                  <a:lnTo>
                    <a:pt x="1134433" y="0"/>
                  </a:lnTo>
                  <a:lnTo>
                    <a:pt x="1134433" y="609295"/>
                  </a:lnTo>
                  <a:lnTo>
                    <a:pt x="0" y="609295"/>
                  </a:lnTo>
                  <a:close/>
                </a:path>
              </a:pathLst>
            </a:custGeom>
            <a:solidFill>
              <a:srgbClr val="BA917B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134433" cy="6473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6180298" y="4702093"/>
            <a:ext cx="3825989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0"/>
              </a:lnSpc>
            </a:pPr>
            <a:r>
              <a:rPr lang="en-US" sz="3100" b="true">
                <a:solidFill>
                  <a:srgbClr val="F1ECEA"/>
                </a:solidFill>
                <a:latin typeface="Lato Bold"/>
                <a:ea typeface="Lato Bold"/>
                <a:cs typeface="Lato Bold"/>
                <a:sym typeface="Lato Bold"/>
              </a:rPr>
              <a:t>Despachos legales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5924242" y="6944882"/>
            <a:ext cx="4307300" cy="2313418"/>
            <a:chOff x="0" y="0"/>
            <a:chExt cx="1134433" cy="60929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34433" cy="609295"/>
            </a:xfrm>
            <a:custGeom>
              <a:avLst/>
              <a:gdLst/>
              <a:ahLst/>
              <a:cxnLst/>
              <a:rect r="r" b="b" t="t" l="l"/>
              <a:pathLst>
                <a:path h="609295" w="1134433">
                  <a:moveTo>
                    <a:pt x="0" y="0"/>
                  </a:moveTo>
                  <a:lnTo>
                    <a:pt x="1134433" y="0"/>
                  </a:lnTo>
                  <a:lnTo>
                    <a:pt x="1134433" y="609295"/>
                  </a:lnTo>
                  <a:lnTo>
                    <a:pt x="0" y="609295"/>
                  </a:lnTo>
                  <a:close/>
                </a:path>
              </a:pathLst>
            </a:custGeom>
            <a:solidFill>
              <a:srgbClr val="BA917B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134433" cy="6473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6180298" y="7258462"/>
            <a:ext cx="3825989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0"/>
              </a:lnSpc>
            </a:pPr>
            <a:r>
              <a:rPr lang="en-US" sz="3100" b="true">
                <a:solidFill>
                  <a:srgbClr val="F1ECEA"/>
                </a:solidFill>
                <a:latin typeface="Lato Bold"/>
                <a:ea typeface="Lato Bold"/>
                <a:cs typeface="Lato Bold"/>
                <a:sym typeface="Lato Bold"/>
              </a:rPr>
              <a:t>Agencias online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180298" y="5331800"/>
            <a:ext cx="3177568" cy="1107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4"/>
              </a:lnSpc>
              <a:spcBef>
                <a:spcPct val="0"/>
              </a:spcBef>
            </a:pPr>
            <a:r>
              <a:rPr lang="en-US" sz="2132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Especializados en espacio aéreo, pierden tiempo en tareas administrativas.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180298" y="7918968"/>
            <a:ext cx="3177568" cy="1107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4"/>
              </a:lnSpc>
              <a:spcBef>
                <a:spcPct val="0"/>
              </a:spcBef>
            </a:pPr>
            <a:r>
              <a:rPr lang="en-US" sz="2132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Intermediarios con alta presión de servicio al cliente.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17553" y="5331800"/>
            <a:ext cx="3177568" cy="1107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4"/>
              </a:lnSpc>
            </a:pPr>
            <a:r>
              <a:rPr lang="en-US" sz="2132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Gestionan miles de reclamaciones.</a:t>
            </a:r>
          </a:p>
          <a:p>
            <a:pPr algn="l">
              <a:lnSpc>
                <a:spcPts val="2984"/>
              </a:lnSpc>
              <a:spcBef>
                <a:spcPct val="0"/>
              </a:spcBef>
            </a:pPr>
            <a:r>
              <a:rPr lang="en-US" sz="2132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Equipos sobrecargados.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17553" y="7918968"/>
            <a:ext cx="3177568" cy="1107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4"/>
              </a:lnSpc>
              <a:spcBef>
                <a:spcPct val="0"/>
              </a:spcBef>
            </a:pPr>
            <a:r>
              <a:rPr lang="en-US" sz="2132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Millones de reclamaciones sin herramientas de gestión efectivas.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28700" y="3360715"/>
            <a:ext cx="8442024" cy="730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99"/>
              </a:lnSpc>
            </a:pPr>
            <a:r>
              <a:rPr lang="en-US" sz="5499">
                <a:solidFill>
                  <a:srgbClr val="BA917B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INEFICIENCIA OPERATIVA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77243" y="295192"/>
            <a:ext cx="1812525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1E2223"/>
                </a:solidFill>
                <a:latin typeface="Lato"/>
                <a:ea typeface="Lato"/>
                <a:cs typeface="Lato"/>
                <a:sym typeface="Lato"/>
              </a:rPr>
              <a:t>AirClaim AI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5682211" y="295159"/>
            <a:ext cx="1577089" cy="266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1E2223"/>
                </a:solidFill>
                <a:latin typeface="Lato"/>
                <a:ea typeface="Lato"/>
                <a:cs typeface="Lato"/>
                <a:sym typeface="Lato"/>
              </a:rPr>
              <a:t>2026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C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5143500"/>
            <a:ext cx="4430026" cy="4114800"/>
            <a:chOff x="0" y="0"/>
            <a:chExt cx="686327" cy="6374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86327" cy="637490"/>
            </a:xfrm>
            <a:custGeom>
              <a:avLst/>
              <a:gdLst/>
              <a:ahLst/>
              <a:cxnLst/>
              <a:rect r="r" b="b" t="t" l="l"/>
              <a:pathLst>
                <a:path h="637490" w="686327">
                  <a:moveTo>
                    <a:pt x="0" y="0"/>
                  </a:moveTo>
                  <a:lnTo>
                    <a:pt x="686327" y="0"/>
                  </a:lnTo>
                  <a:lnTo>
                    <a:pt x="686327" y="637490"/>
                  </a:lnTo>
                  <a:lnTo>
                    <a:pt x="0" y="637490"/>
                  </a:lnTo>
                  <a:close/>
                </a:path>
              </a:pathLst>
            </a:custGeom>
            <a:blipFill>
              <a:blip r:embed="rId2"/>
              <a:stretch>
                <a:fillRect l="-22096" t="0" r="-22096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28700" y="2037642"/>
            <a:ext cx="7286163" cy="1425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99"/>
              </a:lnSpc>
            </a:pPr>
            <a:r>
              <a:rPr lang="en-US" sz="5499">
                <a:solidFill>
                  <a:srgbClr val="BA917B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No busques más, AirClaim es la solución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973131" y="2269401"/>
            <a:ext cx="8286169" cy="1108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1E2223"/>
                </a:solidFill>
                <a:latin typeface="Lato"/>
                <a:ea typeface="Lato"/>
                <a:cs typeface="Lato"/>
                <a:sym typeface="Lato"/>
              </a:rPr>
              <a:t>Una </a:t>
            </a:r>
            <a:r>
              <a:rPr lang="en-US" sz="2099">
                <a:solidFill>
                  <a:srgbClr val="1E2223"/>
                </a:solidFill>
                <a:latin typeface="Lato"/>
                <a:ea typeface="Lato"/>
                <a:cs typeface="Lato"/>
                <a:sym typeface="Lato"/>
              </a:rPr>
              <a:t>plataforma integral que combina lectura de documentos, IA conversacional y gestión inteligente para automatizar el ciclo completo de reclamaciones aéreas.​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7051712" y="4047341"/>
            <a:ext cx="4307300" cy="2313418"/>
            <a:chOff x="0" y="0"/>
            <a:chExt cx="1134433" cy="60929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34433" cy="609295"/>
            </a:xfrm>
            <a:custGeom>
              <a:avLst/>
              <a:gdLst/>
              <a:ahLst/>
              <a:cxnLst/>
              <a:rect r="r" b="b" t="t" l="l"/>
              <a:pathLst>
                <a:path h="609295" w="1134433">
                  <a:moveTo>
                    <a:pt x="0" y="0"/>
                  </a:moveTo>
                  <a:lnTo>
                    <a:pt x="1134433" y="0"/>
                  </a:lnTo>
                  <a:lnTo>
                    <a:pt x="1134433" y="609295"/>
                  </a:lnTo>
                  <a:lnTo>
                    <a:pt x="0" y="609295"/>
                  </a:lnTo>
                  <a:close/>
                </a:path>
              </a:pathLst>
            </a:custGeom>
            <a:solidFill>
              <a:srgbClr val="BA917B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134433" cy="6473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7307768" y="4360921"/>
            <a:ext cx="3825989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0"/>
              </a:lnSpc>
            </a:pPr>
            <a:r>
              <a:rPr lang="en-US" sz="3100" b="true">
                <a:solidFill>
                  <a:srgbClr val="F1ECEA"/>
                </a:solidFill>
                <a:latin typeface="Lato Bold"/>
                <a:ea typeface="Lato Bold"/>
                <a:cs typeface="Lato Bold"/>
                <a:sym typeface="Lato Bold"/>
              </a:rPr>
              <a:t>Gestión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7067112" y="6970588"/>
            <a:ext cx="9547366" cy="2313418"/>
            <a:chOff x="0" y="0"/>
            <a:chExt cx="2514533" cy="60929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514533" cy="609295"/>
            </a:xfrm>
            <a:custGeom>
              <a:avLst/>
              <a:gdLst/>
              <a:ahLst/>
              <a:cxnLst/>
              <a:rect r="r" b="b" t="t" l="l"/>
              <a:pathLst>
                <a:path h="609295" w="2514533">
                  <a:moveTo>
                    <a:pt x="0" y="0"/>
                  </a:moveTo>
                  <a:lnTo>
                    <a:pt x="2514533" y="0"/>
                  </a:lnTo>
                  <a:lnTo>
                    <a:pt x="2514533" y="609295"/>
                  </a:lnTo>
                  <a:lnTo>
                    <a:pt x="0" y="609295"/>
                  </a:lnTo>
                  <a:close/>
                </a:path>
              </a:pathLst>
            </a:custGeom>
            <a:solidFill>
              <a:srgbClr val="BA917B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514533" cy="6473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7634674" y="7284169"/>
            <a:ext cx="894567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0"/>
              </a:lnSpc>
            </a:pPr>
            <a:r>
              <a:rPr lang="en-US" sz="3100" b="true">
                <a:solidFill>
                  <a:srgbClr val="F1ECEA"/>
                </a:solidFill>
                <a:latin typeface="Lato Bold"/>
                <a:ea typeface="Lato Bold"/>
                <a:cs typeface="Lato Bold"/>
                <a:sym typeface="Lato Bold"/>
              </a:rPr>
              <a:t>IA Conversacional​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2307178" y="4047341"/>
            <a:ext cx="4307300" cy="2313418"/>
            <a:chOff x="0" y="0"/>
            <a:chExt cx="1134433" cy="60929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34433" cy="609295"/>
            </a:xfrm>
            <a:custGeom>
              <a:avLst/>
              <a:gdLst/>
              <a:ahLst/>
              <a:cxnLst/>
              <a:rect r="r" b="b" t="t" l="l"/>
              <a:pathLst>
                <a:path h="609295" w="1134433">
                  <a:moveTo>
                    <a:pt x="0" y="0"/>
                  </a:moveTo>
                  <a:lnTo>
                    <a:pt x="1134433" y="0"/>
                  </a:lnTo>
                  <a:lnTo>
                    <a:pt x="1134433" y="609295"/>
                  </a:lnTo>
                  <a:lnTo>
                    <a:pt x="0" y="609295"/>
                  </a:lnTo>
                  <a:close/>
                </a:path>
              </a:pathLst>
            </a:custGeom>
            <a:solidFill>
              <a:srgbClr val="BA917B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134433" cy="6473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2563234" y="4360921"/>
            <a:ext cx="3825989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0"/>
              </a:lnSpc>
            </a:pPr>
            <a:r>
              <a:rPr lang="en-US" sz="3100" b="true">
                <a:solidFill>
                  <a:srgbClr val="F1ECEA"/>
                </a:solidFill>
                <a:latin typeface="Lato Bold"/>
                <a:ea typeface="Lato Bold"/>
                <a:cs typeface="Lato Bold"/>
                <a:sym typeface="Lato Bold"/>
              </a:rPr>
              <a:t>OCR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563234" y="4990627"/>
            <a:ext cx="3177568" cy="73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4"/>
              </a:lnSpc>
              <a:spcBef>
                <a:spcPct val="0"/>
              </a:spcBef>
            </a:pPr>
            <a:r>
              <a:rPr lang="en-US" sz="2132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Extracción inteligente dedatos​.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340566" y="4990627"/>
            <a:ext cx="3177568" cy="73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4"/>
              </a:lnSpc>
              <a:spcBef>
                <a:spcPct val="0"/>
              </a:spcBef>
            </a:pPr>
            <a:r>
              <a:rPr lang="en-US" sz="2132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Intake y seguimiento automático​.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612130" y="7912819"/>
            <a:ext cx="7043253" cy="358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4"/>
              </a:lnSpc>
              <a:spcBef>
                <a:spcPct val="0"/>
              </a:spcBef>
            </a:pPr>
            <a:r>
              <a:rPr lang="en-US" sz="2132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Conversaciones profesionales.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77243" y="295192"/>
            <a:ext cx="1812525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1E2223"/>
                </a:solidFill>
                <a:latin typeface="Lato"/>
                <a:ea typeface="Lato"/>
                <a:cs typeface="Lato"/>
                <a:sym typeface="Lato"/>
              </a:rPr>
              <a:t>AirClaim AI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5682211" y="295159"/>
            <a:ext cx="1577089" cy="266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1E2223"/>
                </a:solidFill>
                <a:latin typeface="Lato"/>
                <a:ea typeface="Lato"/>
                <a:cs typeface="Lato"/>
                <a:sym typeface="Lato"/>
              </a:rPr>
              <a:t>2026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1EC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349251"/>
            <a:ext cx="4514197" cy="1425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99"/>
              </a:lnSpc>
            </a:pPr>
            <a:r>
              <a:rPr lang="en-US" sz="5499">
                <a:solidFill>
                  <a:srgbClr val="BA917B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Propuesta de valor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894722"/>
            <a:ext cx="6640458" cy="798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BA917B"/>
                </a:solidFill>
                <a:latin typeface="Lato"/>
                <a:ea typeface="Lato"/>
                <a:cs typeface="Lato"/>
                <a:sym typeface="Lato"/>
              </a:rPr>
              <a:t>La </a:t>
            </a:r>
            <a:r>
              <a:rPr lang="en-US" sz="2299">
                <a:solidFill>
                  <a:srgbClr val="BA917B"/>
                </a:solidFill>
                <a:latin typeface="Lato"/>
                <a:ea typeface="Lato"/>
                <a:cs typeface="Lato"/>
                <a:sym typeface="Lato"/>
              </a:rPr>
              <a:t>plataforma escala sin coste marginal significativo: más reclamaciones no implican más personal.</a:t>
            </a:r>
          </a:p>
        </p:txBody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660573" y="4276143"/>
          <a:ext cx="16966854" cy="5415512"/>
        </p:xfrm>
        <a:graphic>
          <a:graphicData uri="http://schemas.openxmlformats.org/drawingml/2006/table">
            <a:tbl>
              <a:tblPr/>
              <a:tblGrid>
                <a:gridCol w="2558421"/>
                <a:gridCol w="5029206"/>
                <a:gridCol w="5029206"/>
              </a:tblGrid>
              <a:tr h="149639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1E222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CENTRALIZACIÓN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1E2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1E2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1E2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1E2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1E222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Todo el conocimiento documental y legal en unúnico sistema, accesible y actualizable en tiempo real.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1E2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1E2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1E2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1E2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1E222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100</a:t>
                      </a:r>
                      <a:r>
                        <a:rPr lang="en-US" sz="2099">
                          <a:solidFill>
                            <a:srgbClr val="1E222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1E2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1E2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1E2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1E2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5956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1E222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REDUCCIÓN DE COSTES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1E2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1E2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1E2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1E2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1E222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Menos intervención manual y procesosautomatizados que reducen drásticamente el coste operativo por reclamación.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1E2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1E2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1E2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1E2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1E222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40-60</a:t>
                      </a:r>
                      <a:r>
                        <a:rPr lang="en-US" sz="2099">
                          <a:solidFill>
                            <a:srgbClr val="1E222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1E2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1E2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1E2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1E2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5956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1E222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DISPONIBILIDAD TOTAL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1E2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1E2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1E2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1E2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1E222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La IA conversacional atiende a pasajeros ygestiona consultas en cualquier momento, sinhorarios ni esperas.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1E2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1E2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1E2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1E2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1E222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24/7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1E2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1E2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1E2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1E2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477243" y="295192"/>
            <a:ext cx="1812525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1E2223"/>
                </a:solidFill>
                <a:latin typeface="Lato"/>
                <a:ea typeface="Lato"/>
                <a:cs typeface="Lato"/>
                <a:sym typeface="Lato"/>
              </a:rPr>
              <a:t>AirClaim AI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682211" y="295159"/>
            <a:ext cx="1577089" cy="266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1E2223"/>
                </a:solidFill>
                <a:latin typeface="Lato"/>
                <a:ea typeface="Lato"/>
                <a:cs typeface="Lato"/>
                <a:sym typeface="Lato"/>
              </a:rPr>
              <a:t>2026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C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4831725"/>
            <a:ext cx="6947827" cy="4426575"/>
            <a:chOff x="0" y="0"/>
            <a:chExt cx="1076400" cy="6857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76400" cy="685792"/>
            </a:xfrm>
            <a:custGeom>
              <a:avLst/>
              <a:gdLst/>
              <a:ahLst/>
              <a:cxnLst/>
              <a:rect r="r" b="b" t="t" l="l"/>
              <a:pathLst>
                <a:path h="685792" w="1076400">
                  <a:moveTo>
                    <a:pt x="0" y="0"/>
                  </a:moveTo>
                  <a:lnTo>
                    <a:pt x="1076400" y="0"/>
                  </a:lnTo>
                  <a:lnTo>
                    <a:pt x="1076400" y="685792"/>
                  </a:lnTo>
                  <a:lnTo>
                    <a:pt x="0" y="685792"/>
                  </a:lnTo>
                  <a:close/>
                </a:path>
              </a:pathLst>
            </a:custGeom>
            <a:blipFill>
              <a:blip r:embed="rId2"/>
              <a:stretch>
                <a:fillRect l="0" t="-2319" r="0" b="-2319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28700" y="2037642"/>
            <a:ext cx="4514197" cy="730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99"/>
              </a:lnSpc>
            </a:pPr>
            <a:r>
              <a:rPr lang="en-US" sz="5499">
                <a:solidFill>
                  <a:srgbClr val="BA917B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La diferencia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737812"/>
            <a:ext cx="4514197" cy="1035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00"/>
              </a:lnSpc>
            </a:pPr>
            <a:r>
              <a:rPr lang="en-US" sz="4000">
                <a:solidFill>
                  <a:srgbClr val="BA917B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¿Como se construye AirClaim AI?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77243" y="295192"/>
            <a:ext cx="1812525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1E2223"/>
                </a:solidFill>
                <a:latin typeface="Lato"/>
                <a:ea typeface="Lato"/>
                <a:cs typeface="Lato"/>
                <a:sym typeface="Lato"/>
              </a:rPr>
              <a:t>AirClaim AI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682211" y="295159"/>
            <a:ext cx="1577089" cy="266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1E2223"/>
                </a:solidFill>
                <a:latin typeface="Lato"/>
                <a:ea typeface="Lato"/>
                <a:cs typeface="Lato"/>
                <a:sym typeface="Lato"/>
              </a:rPr>
              <a:t>2026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129862" y="1932867"/>
            <a:ext cx="8411928" cy="1696049"/>
            <a:chOff x="0" y="0"/>
            <a:chExt cx="3021934" cy="60929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021934" cy="609295"/>
            </a:xfrm>
            <a:custGeom>
              <a:avLst/>
              <a:gdLst/>
              <a:ahLst/>
              <a:cxnLst/>
              <a:rect r="r" b="b" t="t" l="l"/>
              <a:pathLst>
                <a:path h="609295" w="3021934">
                  <a:moveTo>
                    <a:pt x="0" y="0"/>
                  </a:moveTo>
                  <a:lnTo>
                    <a:pt x="3021934" y="0"/>
                  </a:lnTo>
                  <a:lnTo>
                    <a:pt x="3021934" y="609295"/>
                  </a:lnTo>
                  <a:lnTo>
                    <a:pt x="0" y="609295"/>
                  </a:lnTo>
                  <a:close/>
                </a:path>
              </a:pathLst>
            </a:custGeom>
            <a:solidFill>
              <a:srgbClr val="BA917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021934" cy="6473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8629925" y="2160222"/>
            <a:ext cx="747195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7"/>
              </a:lnSpc>
            </a:pPr>
            <a:r>
              <a:rPr lang="en-US" sz="2773" b="true">
                <a:solidFill>
                  <a:srgbClr val="F1ECEA"/>
                </a:solidFill>
                <a:latin typeface="Lato Bold"/>
                <a:ea typeface="Lato Bold"/>
                <a:cs typeface="Lato Bold"/>
                <a:sym typeface="Lato Bold"/>
              </a:rPr>
              <a:t>O</a:t>
            </a:r>
            <a:r>
              <a:rPr lang="en-US" b="true" sz="2773">
                <a:solidFill>
                  <a:srgbClr val="F1ECEA"/>
                </a:solidFill>
                <a:latin typeface="Lato Bold"/>
                <a:ea typeface="Lato Bold"/>
                <a:cs typeface="Lato Bold"/>
                <a:sym typeface="Lato Bold"/>
              </a:rPr>
              <a:t>CR automático especializado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8129862" y="3807032"/>
            <a:ext cx="8411928" cy="1696049"/>
            <a:chOff x="0" y="0"/>
            <a:chExt cx="3021934" cy="60929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021934" cy="609295"/>
            </a:xfrm>
            <a:custGeom>
              <a:avLst/>
              <a:gdLst/>
              <a:ahLst/>
              <a:cxnLst/>
              <a:rect r="r" b="b" t="t" l="l"/>
              <a:pathLst>
                <a:path h="609295" w="3021934">
                  <a:moveTo>
                    <a:pt x="0" y="0"/>
                  </a:moveTo>
                  <a:lnTo>
                    <a:pt x="3021934" y="0"/>
                  </a:lnTo>
                  <a:lnTo>
                    <a:pt x="3021934" y="609295"/>
                  </a:lnTo>
                  <a:lnTo>
                    <a:pt x="0" y="609295"/>
                  </a:lnTo>
                  <a:close/>
                </a:path>
              </a:pathLst>
            </a:custGeom>
            <a:solidFill>
              <a:srgbClr val="BA917B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3021934" cy="6473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8629925" y="4034387"/>
            <a:ext cx="747195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7"/>
              </a:lnSpc>
            </a:pPr>
            <a:r>
              <a:rPr lang="en-US" sz="2773" b="true">
                <a:solidFill>
                  <a:srgbClr val="F1ECEA"/>
                </a:solidFill>
                <a:latin typeface="Lato Bold"/>
                <a:ea typeface="Lato Bold"/>
                <a:cs typeface="Lato Bold"/>
                <a:sym typeface="Lato Bold"/>
              </a:rPr>
              <a:t>RAG Documental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8129862" y="7562251"/>
            <a:ext cx="8411928" cy="1696049"/>
            <a:chOff x="0" y="0"/>
            <a:chExt cx="3021934" cy="60929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021934" cy="609295"/>
            </a:xfrm>
            <a:custGeom>
              <a:avLst/>
              <a:gdLst/>
              <a:ahLst/>
              <a:cxnLst/>
              <a:rect r="r" b="b" t="t" l="l"/>
              <a:pathLst>
                <a:path h="609295" w="3021934">
                  <a:moveTo>
                    <a:pt x="0" y="0"/>
                  </a:moveTo>
                  <a:lnTo>
                    <a:pt x="3021934" y="0"/>
                  </a:lnTo>
                  <a:lnTo>
                    <a:pt x="3021934" y="609295"/>
                  </a:lnTo>
                  <a:lnTo>
                    <a:pt x="0" y="609295"/>
                  </a:lnTo>
                  <a:close/>
                </a:path>
              </a:pathLst>
            </a:custGeom>
            <a:solidFill>
              <a:srgbClr val="BA917B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3021934" cy="6473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8629925" y="7789606"/>
            <a:ext cx="747195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7"/>
              </a:lnSpc>
            </a:pPr>
            <a:r>
              <a:rPr lang="en-US" sz="2773" b="true">
                <a:solidFill>
                  <a:srgbClr val="F1ECEA"/>
                </a:solidFill>
                <a:latin typeface="Lato Bold"/>
                <a:ea typeface="Lato Bold"/>
                <a:cs typeface="Lato Bold"/>
                <a:sym typeface="Lato Bold"/>
              </a:rPr>
              <a:t>Chat contextual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8129862" y="5684642"/>
            <a:ext cx="8411928" cy="1696049"/>
            <a:chOff x="0" y="0"/>
            <a:chExt cx="3021934" cy="60929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021934" cy="609295"/>
            </a:xfrm>
            <a:custGeom>
              <a:avLst/>
              <a:gdLst/>
              <a:ahLst/>
              <a:cxnLst/>
              <a:rect r="r" b="b" t="t" l="l"/>
              <a:pathLst>
                <a:path h="609295" w="3021934">
                  <a:moveTo>
                    <a:pt x="0" y="0"/>
                  </a:moveTo>
                  <a:lnTo>
                    <a:pt x="3021934" y="0"/>
                  </a:lnTo>
                  <a:lnTo>
                    <a:pt x="3021934" y="609295"/>
                  </a:lnTo>
                  <a:lnTo>
                    <a:pt x="0" y="609295"/>
                  </a:lnTo>
                  <a:close/>
                </a:path>
              </a:pathLst>
            </a:custGeom>
            <a:solidFill>
              <a:srgbClr val="BA917B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3021934" cy="6473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8629925" y="5911997"/>
            <a:ext cx="747195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7"/>
              </a:lnSpc>
            </a:pPr>
            <a:r>
              <a:rPr lang="en-US" sz="2773" b="true">
                <a:solidFill>
                  <a:srgbClr val="F1ECEA"/>
                </a:solidFill>
                <a:latin typeface="Lato Bold"/>
                <a:ea typeface="Lato Bold"/>
                <a:cs typeface="Lato Bold"/>
                <a:sym typeface="Lato Bold"/>
              </a:rPr>
              <a:t>Arquitectura Cloud Nativa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629925" y="8234116"/>
            <a:ext cx="6205621" cy="718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0"/>
              </a:lnSpc>
              <a:spcBef>
                <a:spcPct val="0"/>
              </a:spcBef>
            </a:pPr>
            <a:r>
              <a:rPr lang="en-US" sz="2078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Asi</a:t>
            </a:r>
            <a:r>
              <a:rPr lang="en-US" sz="2078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stente conversacional que comprende el estado de cada reclamación y el historial delpasajero.​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629925" y="6379086"/>
            <a:ext cx="6205621" cy="718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0"/>
              </a:lnSpc>
              <a:spcBef>
                <a:spcPct val="0"/>
              </a:spcBef>
            </a:pPr>
            <a:r>
              <a:rPr lang="en-US" sz="2078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Escalabl</a:t>
            </a:r>
            <a:r>
              <a:rPr lang="en-US" sz="2078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e, segura y con disponibilidad garantizada para entornos de alta demanda.​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629925" y="2612056"/>
            <a:ext cx="6205621" cy="718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0"/>
              </a:lnSpc>
              <a:spcBef>
                <a:spcPct val="0"/>
              </a:spcBef>
            </a:pPr>
            <a:r>
              <a:rPr lang="en-US" sz="2078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Extracción precisa de datos de billetes, facturas y formularios regulatorios sin configuraciónmanual.​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629925" y="4491909"/>
            <a:ext cx="6205621" cy="718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0"/>
              </a:lnSpc>
              <a:spcBef>
                <a:spcPct val="0"/>
              </a:spcBef>
            </a:pPr>
            <a:r>
              <a:rPr lang="en-US" sz="2078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Recuperación aumentada de conocimiento legal y regulatorio para respuestas precisas yactualizadas.​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1EC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073770" y="4522800"/>
            <a:ext cx="10140461" cy="145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37"/>
              </a:lnSpc>
            </a:pPr>
            <a:r>
              <a:rPr lang="en-US" sz="10937">
                <a:solidFill>
                  <a:srgbClr val="BA917B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Próximos vuelos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2651265" y="8096912"/>
            <a:ext cx="2732226" cy="493323"/>
            <a:chOff x="0" y="0"/>
            <a:chExt cx="2250809" cy="4064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50809" cy="406400"/>
            </a:xfrm>
            <a:custGeom>
              <a:avLst/>
              <a:gdLst/>
              <a:ahLst/>
              <a:cxnLst/>
              <a:rect r="r" b="b" t="t" l="l"/>
              <a:pathLst>
                <a:path h="406400" w="2250809">
                  <a:moveTo>
                    <a:pt x="2047609" y="0"/>
                  </a:moveTo>
                  <a:cubicBezTo>
                    <a:pt x="2159833" y="0"/>
                    <a:pt x="2250809" y="90976"/>
                    <a:pt x="2250809" y="203200"/>
                  </a:cubicBezTo>
                  <a:cubicBezTo>
                    <a:pt x="2250809" y="315424"/>
                    <a:pt x="2159833" y="406400"/>
                    <a:pt x="204760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1ECEA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250809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477243" y="295192"/>
            <a:ext cx="1812525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1E2223"/>
                </a:solidFill>
                <a:latin typeface="Lato"/>
                <a:ea typeface="Lato"/>
                <a:cs typeface="Lato"/>
                <a:sym typeface="Lato"/>
              </a:rPr>
              <a:t>AirClaim AI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682211" y="295159"/>
            <a:ext cx="1577089" cy="266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1E2223"/>
                </a:solidFill>
                <a:latin typeface="Lato"/>
                <a:ea typeface="Lato"/>
                <a:cs typeface="Lato"/>
                <a:sym typeface="Lato"/>
              </a:rPr>
              <a:t>2026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2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48759" y="1775774"/>
            <a:ext cx="16434336" cy="4232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19"/>
              </a:lnSpc>
            </a:pPr>
            <a:r>
              <a:rPr lang="en-US" sz="18000">
                <a:solidFill>
                  <a:srgbClr val="BA917B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Haz volar </a:t>
            </a:r>
          </a:p>
          <a:p>
            <a:pPr algn="l">
              <a:lnSpc>
                <a:spcPts val="16019"/>
              </a:lnSpc>
            </a:pPr>
            <a:r>
              <a:rPr lang="en-US" sz="18000">
                <a:solidFill>
                  <a:srgbClr val="FFFFF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tu empresa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5077134" y="5143500"/>
            <a:ext cx="12609750" cy="4592050"/>
          </a:xfrm>
          <a:custGeom>
            <a:avLst/>
            <a:gdLst/>
            <a:ahLst/>
            <a:cxnLst/>
            <a:rect r="r" b="b" t="t" l="l"/>
            <a:pathLst>
              <a:path h="4592050" w="12609750">
                <a:moveTo>
                  <a:pt x="0" y="0"/>
                </a:moveTo>
                <a:lnTo>
                  <a:pt x="12609750" y="0"/>
                </a:lnTo>
                <a:lnTo>
                  <a:pt x="12609750" y="4592050"/>
                </a:lnTo>
                <a:lnTo>
                  <a:pt x="0" y="45920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48759" y="8166294"/>
            <a:ext cx="1092006" cy="1092006"/>
          </a:xfrm>
          <a:custGeom>
            <a:avLst/>
            <a:gdLst/>
            <a:ahLst/>
            <a:cxnLst/>
            <a:rect r="r" b="b" t="t" l="l"/>
            <a:pathLst>
              <a:path h="1092006" w="1092006">
                <a:moveTo>
                  <a:pt x="0" y="0"/>
                </a:moveTo>
                <a:lnTo>
                  <a:pt x="1092006" y="0"/>
                </a:lnTo>
                <a:lnTo>
                  <a:pt x="1092006" y="1092006"/>
                </a:lnTo>
                <a:lnTo>
                  <a:pt x="0" y="10920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289768" y="8703641"/>
            <a:ext cx="6670809" cy="431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8"/>
              </a:lnSpc>
              <a:spcBef>
                <a:spcPct val="0"/>
              </a:spcBef>
            </a:pPr>
            <a:r>
              <a:rPr lang="en-US" sz="2513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Alejandro Benítez Berná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77243" y="295192"/>
            <a:ext cx="1812525" cy="266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1E2223"/>
                </a:solidFill>
                <a:latin typeface="Lato"/>
                <a:ea typeface="Lato"/>
                <a:cs typeface="Lato"/>
                <a:sym typeface="Lato"/>
              </a:rPr>
              <a:t>Borcelle Aviation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418200" y="295192"/>
            <a:ext cx="2392556" cy="266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1E2223"/>
                </a:solidFill>
                <a:latin typeface="Lato"/>
                <a:ea typeface="Lato"/>
                <a:cs typeface="Lato"/>
                <a:sym typeface="Lato"/>
              </a:rPr>
              <a:t>Template Presentation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497275" y="295192"/>
            <a:ext cx="1577089" cy="266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1E2223"/>
                </a:solidFill>
                <a:latin typeface="Lato"/>
                <a:ea typeface="Lato"/>
                <a:cs typeface="Lato"/>
                <a:sym typeface="Lato"/>
              </a:rPr>
              <a:t>2026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920186" y="295192"/>
            <a:ext cx="1338253" cy="266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1E2223"/>
                </a:solidFill>
                <a:latin typeface="Lato"/>
                <a:ea typeface="Lato"/>
                <a:cs typeface="Lato"/>
                <a:sym typeface="Lato"/>
              </a:rPr>
              <a:t>Plane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289768" y="8280836"/>
            <a:ext cx="6670809" cy="431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8"/>
              </a:lnSpc>
              <a:spcBef>
                <a:spcPct val="0"/>
              </a:spcBef>
            </a:pPr>
            <a:r>
              <a:rPr lang="en-US" sz="2513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Santiago Montoya Hernández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48759" y="9352515"/>
            <a:ext cx="7496497" cy="477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4"/>
              </a:lnSpc>
              <a:spcBef>
                <a:spcPct val="0"/>
              </a:spcBef>
            </a:pPr>
            <a:r>
              <a:rPr lang="en-US" sz="2824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info@airclaimai.com · + 34 625 567 942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DAHI32PKJxU</dc:identifier>
  <dcterms:modified xsi:type="dcterms:W3CDTF">2011-08-01T06:04:30Z</dcterms:modified>
  <cp:revision>1</cp:revision>
  <dc:title>AirClaim</dc:title>
</cp:coreProperties>
</file>